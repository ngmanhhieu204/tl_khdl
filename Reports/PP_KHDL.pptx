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84" r:id="rId9"/>
    <p:sldId id="315" r:id="rId10"/>
    <p:sldId id="313" r:id="rId11"/>
    <p:sldId id="314" r:id="rId12"/>
    <p:sldId id="310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30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F3533-D446-4F7A-BE55-61826E2BA21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80D3-D396-4C1C-8274-F9465DEE276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F3533-D446-4F7A-BE55-61826E2BA21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80D3-D396-4C1C-8274-F9465DEE276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F3533-D446-4F7A-BE55-61826E2BA21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80D3-D396-4C1C-8274-F9465DEE276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F3533-D446-4F7A-BE55-61826E2BA21C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80D3-D396-4C1C-8274-F9465DEE276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F3533-D446-4F7A-BE55-61826E2BA21C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80D3-D396-4C1C-8274-F9465DEE276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F3533-D446-4F7A-BE55-61826E2BA2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80D3-D396-4C1C-8274-F9465DEE276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F3533-D446-4F7A-BE55-61826E2BA21C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80D3-D396-4C1C-8274-F9465DEE276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F3533-D446-4F7A-BE55-61826E2BA21C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80D3-D396-4C1C-8274-F9465DEE276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F3533-D446-4F7A-BE55-61826E2BA21C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80D3-D396-4C1C-8274-F9465DEE276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F3533-D446-4F7A-BE55-61826E2BA21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80D3-D396-4C1C-8274-F9465DEE276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F3533-D446-4F7A-BE55-61826E2BA21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80D3-D396-4C1C-8274-F9465DEE276D}" type="slidenum">
              <a:rPr lang="en-US" smtClean="0"/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F3533-D446-4F7A-BE55-61826E2BA21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80D3-D396-4C1C-8274-F9465DEE276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F3533-D446-4F7A-BE55-61826E2BA21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80D3-D396-4C1C-8274-F9465DEE276D}" type="slidenum">
              <a:rPr lang="en-US" smtClean="0"/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F3533-D446-4F7A-BE55-61826E2BA21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80D3-D396-4C1C-8274-F9465DEE276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F3533-D446-4F7A-BE55-61826E2BA21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80D3-D396-4C1C-8274-F9465DEE276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F3533-D446-4F7A-BE55-61826E2BA21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80D3-D396-4C1C-8274-F9465DEE276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F3533-D446-4F7A-BE55-61826E2BA21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80D3-D396-4C1C-8274-F9465DEE276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4F3533-D446-4F7A-BE55-61826E2BA21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77C80D3-D396-4C1C-8274-F9465DEE27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29810" cy="102981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29970" y="0"/>
            <a:ext cx="9105900" cy="950595"/>
          </a:xfrm>
        </p:spPr>
        <p:txBody>
          <a:bodyPr>
            <a:noAutofit/>
          </a:bodyPr>
          <a:lstStyle/>
          <a:p>
            <a:pPr algn="ctr"/>
            <a:br>
              <a:rPr lang="en-US" sz="3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KHOA HỌC DỮ LIỆU</a:t>
            </a:r>
            <a:endParaRPr lang="en-US" sz="3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415925" y="1498600"/>
            <a:ext cx="10240645" cy="4893945"/>
          </a:xfrm>
        </p:spPr>
        <p:txBody>
          <a:bodyPr>
            <a:normAutofit lnSpcReduction="20000"/>
          </a:bodyPr>
          <a:lstStyle/>
          <a:p>
            <a:pPr algn="l">
              <a:lnSpc>
                <a:spcPct val="150000"/>
              </a:lnSpc>
            </a:pPr>
            <a:r>
              <a:rPr lang="en-US" sz="2800" b="1" spc="-3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HỌ VÀ TÊN:  </a:t>
            </a:r>
            <a:r>
              <a:rPr lang="en-US" sz="2800" b="1" spc="-4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NGUYỄN MẠNH HIẾU   </a:t>
            </a:r>
            <a:r>
              <a:rPr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MSSV:</a:t>
            </a:r>
            <a:r>
              <a:rPr sz="2800" b="1" spc="8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800" b="1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K225480106</a:t>
            </a:r>
            <a:r>
              <a:rPr lang="en-US" sz="2800" b="1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02</a:t>
            </a:r>
            <a:r>
              <a:rPr sz="2800" b="1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0</a:t>
            </a:r>
            <a:endParaRPr sz="2800" b="1" spc="-1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l">
              <a:lnSpc>
                <a:spcPct val="190000"/>
              </a:lnSpc>
              <a:spcBef>
                <a:spcPts val="750"/>
              </a:spcBef>
            </a:pPr>
            <a:r>
              <a:rPr lang="en-US" sz="2800" b="1" spc="-3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LỚP</a:t>
            </a:r>
            <a:r>
              <a:rPr sz="2800" b="1" spc="-3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:</a:t>
            </a:r>
            <a:r>
              <a:rPr sz="2800" b="1" spc="-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800" b="1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K58KTP</a:t>
            </a:r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90000"/>
              </a:lnSpc>
              <a:spcBef>
                <a:spcPts val="750"/>
              </a:spcBef>
            </a:pPr>
            <a:r>
              <a:rPr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GVHD: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TS. NGUYỄN VĂN HUY</a:t>
            </a:r>
            <a:endParaRPr lang="en-US" altLang="en-US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l">
              <a:lnSpc>
                <a:spcPct val="190000"/>
              </a:lnSpc>
              <a:spcBef>
                <a:spcPts val="750"/>
              </a:spcBef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ĐỀ TÀI: </a:t>
            </a:r>
            <a:r>
              <a:rPr lang="en-US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  <a:r>
              <a:rPr lang="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Â</a:t>
            </a:r>
            <a:r>
              <a:rPr lang="en-US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T</a:t>
            </a:r>
            <a:r>
              <a:rPr lang="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Í</a:t>
            </a:r>
            <a:r>
              <a:rPr lang="en-US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 CHỈ SỐ KH</a:t>
            </a:r>
            <a:r>
              <a:rPr lang="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Í </a:t>
            </a:r>
            <a:r>
              <a:rPr lang="en-US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ỢNG TẠI C</a:t>
            </a:r>
            <a:r>
              <a:rPr lang="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</a:t>
            </a:r>
            <a:r>
              <a:rPr lang="en-US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TỈNH TH</a:t>
            </a:r>
            <a:r>
              <a:rPr lang="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À</a:t>
            </a:r>
            <a:r>
              <a:rPr lang="en-US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 VIỆT NAM</a:t>
            </a:r>
            <a:endParaRPr lang="en-US" altLang="en-US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17195" y="-635"/>
            <a:ext cx="9030335" cy="967105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Ý 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 CHỌN </a:t>
            </a:r>
            <a:r>
              <a:rPr lang="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Ề T</a:t>
            </a:r>
            <a:r>
              <a:rPr lang="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À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VÀ </a:t>
            </a:r>
            <a:r>
              <a:rPr lang="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Ý 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</a:t>
            </a:r>
            <a:r>
              <a:rPr lang="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Ĩ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US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89560" y="1047115"/>
            <a:ext cx="9737725" cy="581088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ặc thù Việt Nam chịu nhiều ảnh h</a:t>
            </a:r>
            <a:r>
              <a:rPr lang="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ởng của biến </a:t>
            </a:r>
            <a:r>
              <a:rPr lang="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ổi khí hậu và thời tiết cực </a:t>
            </a:r>
            <a:r>
              <a:rPr lang="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oan.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Các hệ thống dự báo truyền thống cần siêu máy tính cồng kềnh, chi phí cao.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Mục tiêu </a:t>
            </a:r>
            <a:r>
              <a:rPr lang="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ề tài: Ứng dụng Khoa học Dữ liệu (Data-driven) </a:t>
            </a:r>
            <a:r>
              <a:rPr lang="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ể tìm quy luật khí hậu tự </a:t>
            </a:r>
            <a:r>
              <a:rPr lang="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ộng.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Xây dựng các mô hình học máy có tính ứng dụng cao, hoạt </a:t>
            </a:r>
            <a:r>
              <a:rPr lang="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ộng m</a:t>
            </a:r>
            <a:r>
              <a:rPr lang="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ợt mà trên máy tính cá nhân.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277495" y="123190"/>
            <a:ext cx="9738995" cy="960755"/>
          </a:xfrm>
        </p:spPr>
        <p:txBody>
          <a:bodyPr>
            <a:noAutofit/>
          </a:bodyPr>
          <a:lstStyle/>
          <a:p>
            <a:pPr algn="ctr"/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TỔNG QUAN DỮ LIỆU VÀ CÔNG NGHỆ</a:t>
            </a:r>
            <a:endParaRPr lang="en-US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01955" y="1009015"/>
            <a:ext cx="9490710" cy="5848985"/>
          </a:xfrm>
        </p:spPr>
        <p:txBody>
          <a:bodyPr/>
          <a:p>
            <a:pPr>
              <a:lnSpc>
                <a:spcPct val="150000"/>
              </a:lnSpc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Nguồn dữ liệu: Kaggle (Vietnam Weather Data - Lịch sử khí t</a:t>
            </a:r>
            <a:r>
              <a:rPr lang="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ợng 40 tỉnh thành).</a:t>
            </a:r>
            <a:endParaRPr lang="en-US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ặc tr</a:t>
            </a:r>
            <a:r>
              <a:rPr lang="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ng chính (Features): Nhiệt </a:t>
            </a:r>
            <a:r>
              <a:rPr lang="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ộ, L</a:t>
            </a:r>
            <a:r>
              <a:rPr lang="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ợng m</a:t>
            </a:r>
            <a:r>
              <a:rPr lang="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a, </a:t>
            </a:r>
            <a:r>
              <a:rPr lang="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ộ ẩm, Tốc </a:t>
            </a:r>
            <a:r>
              <a:rPr lang="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ộ gió, </a:t>
            </a:r>
            <a:r>
              <a:rPr lang="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ộ che phủ mây, </a:t>
            </a:r>
            <a:r>
              <a:rPr lang="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Á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p suất.</a:t>
            </a:r>
            <a:endParaRPr lang="en-US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Công nghệ cốt l</a:t>
            </a:r>
            <a:r>
              <a:rPr lang="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õ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i:</a:t>
            </a:r>
            <a:endParaRPr lang="en-US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Ngôn ngữ: Python (VS Code, Anaconda).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Tiền xử l</a:t>
            </a:r>
            <a:r>
              <a:rPr lang="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ý &amp;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Trực quan: Pandas, NumPy, Matplotlib, Seaborn.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Học máy (Machine Learning): Scikit-learn.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35" y="0"/>
            <a:ext cx="10971530" cy="1021080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TIỀN XỬ L</a:t>
            </a:r>
            <a:r>
              <a:rPr lang="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Ý 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DỮ LIỆU (PREPROCESSING)</a:t>
            </a:r>
            <a:endParaRPr lang="en-US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1270" y="786765"/>
            <a:ext cx="6600825" cy="477139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Xử l</a:t>
            </a:r>
            <a:r>
              <a:rPr lang="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ý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Values: </a:t>
            </a:r>
            <a:r>
              <a:rPr lang="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iền khuyết bằng giá trị Trung bình (Mean) và Mode </a:t>
            </a:r>
            <a:r>
              <a:rPr lang="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ể bảo toàn dữ liệu.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Mã hóa (Encoding): Sử dụng LabelEncoder chuyển </a:t>
            </a:r>
            <a:r>
              <a:rPr lang="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ổi dạng Text (Tỉnh/thành, H</a:t>
            </a:r>
            <a:r>
              <a:rPr lang="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ớng gió) sang dạng số.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Chuẩn hóa (Scaling): </a:t>
            </a:r>
            <a:r>
              <a:rPr lang="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Á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dụng StandardScaler </a:t>
            </a:r>
            <a:r>
              <a:rPr lang="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đư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các biến (áp suất ~1000hPa, m</a:t>
            </a:r>
            <a:r>
              <a:rPr lang="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~10mm) về cùng phân phối chuẩn (Mean=0, Std=1).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81470" y="1504950"/>
            <a:ext cx="5510530" cy="45339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77545" y="635"/>
            <a:ext cx="8596630" cy="939165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en-US" b="1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KH</a:t>
            </a:r>
            <a:r>
              <a:rPr lang="" altLang="en-US" b="1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Á</a:t>
            </a:r>
            <a:r>
              <a:rPr lang="en-US" altLang="en-US" b="1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M PH</a:t>
            </a:r>
            <a:r>
              <a:rPr lang="" altLang="en-US" b="1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Á </a:t>
            </a:r>
            <a:r>
              <a:rPr lang="en-US" altLang="en-US" b="1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DỮ LIỆU (EDA)</a:t>
            </a:r>
            <a:endParaRPr lang="en-US" altLang="en-US" b="1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" name="Content Placeholder 1"/>
          <p:cNvSpPr/>
          <p:nvPr>
            <p:ph idx="1"/>
          </p:nvPr>
        </p:nvSpPr>
        <p:spPr>
          <a:xfrm>
            <a:off x="182880" y="834390"/>
            <a:ext cx="9265920" cy="5928360"/>
          </a:xfrm>
        </p:spPr>
        <p:txBody>
          <a:bodyPr>
            <a:normAutofit lnSpcReduction="10000"/>
          </a:bodyPr>
          <a:p>
            <a:pPr algn="just">
              <a:lnSpc>
                <a:spcPct val="150000"/>
              </a:lnSpc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Cả 3 miền đều có mùa mưa tập trung vào các tháng 5, 6, 7, 8, 9, 10</a:t>
            </a:r>
            <a:endParaRPr lang="en-US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088515"/>
            <a:ext cx="12192000" cy="47694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2115" y="0"/>
            <a:ext cx="9418955" cy="858520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en-US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ỊNH VỊ DỮ LIỆU VÀ </a:t>
            </a:r>
            <a:r>
              <a:rPr lang="en-US" altLang="en-US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Á</a:t>
            </a:r>
            <a:r>
              <a:rPr lang="en-US" altLang="en-US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NH XẠ</a:t>
            </a:r>
            <a:endParaRPr lang="en-US" altLang="en-US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/>
          <p:nvPr>
            <p:ph idx="1"/>
          </p:nvPr>
        </p:nvSpPr>
        <p:spPr>
          <a:xfrm>
            <a:off x="155575" y="1185545"/>
            <a:ext cx="6182995" cy="5125720"/>
          </a:xfrm>
        </p:spPr>
        <p:txBody>
          <a:bodyPr>
            <a:normAutofit lnSpcReduction="10000"/>
          </a:bodyPr>
          <a:p>
            <a:pPr>
              <a:lnSpc>
                <a:spcPct val="15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Ma trận t</a:t>
            </a:r>
            <a:r>
              <a:rPr lang="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ơng quan (Heatmap) giúp xác </a:t>
            </a:r>
            <a:r>
              <a:rPr lang="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ịnh các yếu tố quyết </a:t>
            </a:r>
            <a:r>
              <a:rPr lang="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ịnh khả n</a:t>
            </a:r>
            <a:r>
              <a:rPr lang="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ă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ng có m</a:t>
            </a:r>
            <a:r>
              <a:rPr lang="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ộ che phủ mây (Cloud Cover) và </a:t>
            </a:r>
            <a:r>
              <a:rPr lang="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ộ ẩm (Humidity) t</a:t>
            </a:r>
            <a:r>
              <a:rPr lang="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ơng quan thuận rất mạnh với L</a:t>
            </a:r>
            <a:r>
              <a:rPr lang="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ợng m</a:t>
            </a:r>
            <a:r>
              <a:rPr lang="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Á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 suất (Pressure) có xu h</a:t>
            </a:r>
            <a:r>
              <a:rPr lang="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ớng giảm khi có m</a:t>
            </a:r>
            <a:r>
              <a:rPr lang="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a/bão.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/>
          </a:p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rcRect r="53422"/>
          <a:stretch>
            <a:fillRect/>
          </a:stretch>
        </p:blipFill>
        <p:spPr>
          <a:xfrm>
            <a:off x="6266180" y="1247775"/>
            <a:ext cx="5925820" cy="56102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425" y="69850"/>
            <a:ext cx="9124315" cy="814705"/>
          </a:xfrm>
        </p:spPr>
        <p:txBody>
          <a:bodyPr>
            <a:normAutofit/>
          </a:bodyPr>
          <a:p>
            <a:pPr algn="ctr"/>
            <a:r>
              <a:rPr lang="en-US" alt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" alt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À</a:t>
            </a:r>
            <a:r>
              <a:rPr lang="en-US" alt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TO</a:t>
            </a:r>
            <a:r>
              <a:rPr lang="" alt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</a:t>
            </a:r>
            <a:r>
              <a:rPr lang="en-US" alt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DỰ B</a:t>
            </a:r>
            <a:r>
              <a:rPr lang="" alt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</a:t>
            </a:r>
            <a:r>
              <a:rPr lang="en-US" alt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M</a:t>
            </a:r>
            <a:r>
              <a:rPr lang="" alt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US" alt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930" y="884555"/>
            <a:ext cx="6266180" cy="5746115"/>
          </a:xfrm>
        </p:spPr>
        <p:txBody>
          <a:bodyPr>
            <a:normAutofit lnSpcReduction="20000"/>
          </a:bodyPr>
          <a:p>
            <a:pPr lvl="0">
              <a:lnSpc>
                <a:spcPct val="150000"/>
              </a:lnSpc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Thuật toán sử dụng: Random Forest Classifier.</a:t>
            </a:r>
            <a:endParaRPr lang="en-US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Tỷ lệ tập dữ liệu: 80% Train - 20% Test.</a:t>
            </a:r>
            <a:endParaRPr lang="en-US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Kết quả: Mô hình </a:t>
            </a:r>
            <a:r>
              <a:rPr lang="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ạt </a:t>
            </a:r>
            <a:r>
              <a:rPr lang="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ộ chính xác (Accuracy) &gt; 75%.</a:t>
            </a:r>
            <a:endParaRPr lang="en-US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Feature Importance: </a:t>
            </a:r>
            <a:r>
              <a:rPr lang="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Á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p suất và </a:t>
            </a:r>
            <a:r>
              <a:rPr lang="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ộ che phủ mây </a:t>
            </a:r>
            <a:r>
              <a:rPr lang="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óng vai trò quan trọng nhất trong việc dự báo.</a:t>
            </a:r>
            <a:endParaRPr lang="en-US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rcRect l="32974" r="33276"/>
          <a:stretch>
            <a:fillRect/>
          </a:stretch>
        </p:blipFill>
        <p:spPr>
          <a:xfrm>
            <a:off x="6791960" y="1228090"/>
            <a:ext cx="5399405" cy="498284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4316730" y="63042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540" y="116840"/>
            <a:ext cx="9199880" cy="767715"/>
          </a:xfrm>
        </p:spPr>
        <p:txBody>
          <a:bodyPr>
            <a:normAutofit/>
          </a:bodyPr>
          <a:p>
            <a:pPr algn="ctr"/>
            <a:r>
              <a:rPr lang="en-US" alt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  <a:r>
              <a:rPr lang="" alt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Â</a:t>
            </a:r>
            <a:r>
              <a:rPr lang="en-US" alt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CỤM THỜI TIẾT</a:t>
            </a:r>
            <a:endParaRPr lang="en-US" alt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660" y="695325"/>
            <a:ext cx="11709400" cy="3968750"/>
          </a:xfrm>
        </p:spPr>
        <p:txBody>
          <a:bodyPr>
            <a:normAutofit fontScale="90000"/>
          </a:bodyPr>
          <a:p>
            <a:pPr lvl="0">
              <a:lnSpc>
                <a:spcPct val="150000"/>
              </a:lnSpc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Bài toán: Gom nhóm tự </a:t>
            </a:r>
            <a:r>
              <a:rPr lang="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ộng các ngày có chung kiểu thời tiết bằng thuật toán K-Means.</a:t>
            </a:r>
            <a:endParaRPr lang="en-US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Giải pháp khắc phục tràn RAM: </a:t>
            </a:r>
            <a:r>
              <a:rPr lang="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Á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p dụng kỹ Random Sampling với 10,000 dòng </a:t>
            </a:r>
            <a:endParaRPr lang="en-US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Xác </a:t>
            </a:r>
            <a:r>
              <a:rPr lang="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ịnh số cụm tối </a:t>
            </a:r>
            <a:r>
              <a:rPr lang="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u K = 2 dựa trên ph</a:t>
            </a:r>
            <a:r>
              <a:rPr lang="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ơng pháp Elbow và Silhouette Score.</a:t>
            </a:r>
            <a:endParaRPr lang="en-US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727960"/>
            <a:ext cx="12192000" cy="4130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545" y="111125"/>
            <a:ext cx="8596630" cy="692785"/>
          </a:xfrm>
        </p:spPr>
        <p:txBody>
          <a:bodyPr/>
          <a:p>
            <a:pPr algn="ctr"/>
            <a:r>
              <a:rPr lang="en-US" alt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 QUẢ PH</a:t>
            </a:r>
            <a:r>
              <a:rPr lang="" alt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Â</a:t>
            </a:r>
            <a:r>
              <a:rPr lang="en-US" alt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CỤM</a:t>
            </a:r>
            <a:endParaRPr lang="en-US" alt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/>
          <p:nvPr>
            <p:ph idx="1"/>
          </p:nvPr>
        </p:nvSpPr>
        <p:spPr>
          <a:xfrm>
            <a:off x="121285" y="804545"/>
            <a:ext cx="5567045" cy="6053455"/>
          </a:xfrm>
        </p:spPr>
        <p:txBody>
          <a:bodyPr/>
          <a:p>
            <a:pPr>
              <a:lnSpc>
                <a:spcPct val="150000"/>
              </a:lnSpc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Cụm 0 (Ngày khô ráo): Nhiệt </a:t>
            </a:r>
            <a:r>
              <a:rPr lang="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ộ cao (~31.8°C), l</a:t>
            </a:r>
            <a:r>
              <a:rPr lang="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ợng m</a:t>
            </a:r>
            <a:r>
              <a:rPr lang="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a rất thấp, </a:t>
            </a:r>
            <a:r>
              <a:rPr lang="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ộ ẩm vừa phải.</a:t>
            </a:r>
            <a:endParaRPr lang="en-US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Cụm 1 (Ngày m</a:t>
            </a:r>
            <a:r>
              <a:rPr lang="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a/Nồm ẩm): Nhiệt </a:t>
            </a:r>
            <a:r>
              <a:rPr lang="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ộ giảm nhẹ (~28.5°C), </a:t>
            </a:r>
            <a:r>
              <a:rPr lang="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ộ ẩm bão hòa (&gt;84%), l</a:t>
            </a:r>
            <a:r>
              <a:rPr lang="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ợng m</a:t>
            </a:r>
            <a:r>
              <a:rPr lang="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a lớn.</a:t>
            </a:r>
            <a:endParaRPr lang="en-US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rcRect l="46656"/>
          <a:stretch>
            <a:fillRect/>
          </a:stretch>
        </p:blipFill>
        <p:spPr>
          <a:xfrm>
            <a:off x="5688330" y="1307465"/>
            <a:ext cx="6503670" cy="50469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545" y="-635"/>
            <a:ext cx="8795385" cy="817245"/>
          </a:xfrm>
        </p:spPr>
        <p:txBody>
          <a:bodyPr/>
          <a:p>
            <a:pPr algn="ctr"/>
            <a:r>
              <a:rPr lang="en-US" alt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 LUẬN VÀ H</a:t>
            </a:r>
            <a:r>
              <a:rPr lang="en-US" alt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ỚNG PH</a:t>
            </a:r>
            <a:r>
              <a:rPr lang="en-US" alt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</a:t>
            </a:r>
            <a:r>
              <a:rPr lang="en-US" alt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TRIỂN</a:t>
            </a:r>
            <a:endParaRPr lang="en-US" alt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/>
          <p:nvPr>
            <p:ph idx="1"/>
          </p:nvPr>
        </p:nvSpPr>
        <p:spPr>
          <a:xfrm>
            <a:off x="328930" y="702945"/>
            <a:ext cx="10319385" cy="6031230"/>
          </a:xfrm>
        </p:spPr>
        <p:txBody>
          <a:bodyPr>
            <a:normAutofit lnSpcReduction="10000"/>
          </a:bodyPr>
          <a:p>
            <a:pPr>
              <a:lnSpc>
                <a:spcPct val="150000"/>
              </a:lnSpc>
            </a:pP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Kết quả </a:t>
            </a:r>
            <a:r>
              <a:rPr lang="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ạt </a:t>
            </a:r>
            <a:r>
              <a:rPr lang="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đư</a:t>
            </a: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ợc:</a:t>
            </a:r>
            <a:endParaRPr lang="en-US" alt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ợt qua giới hạn phần cứng xử l</a:t>
            </a:r>
            <a:r>
              <a:rPr lang="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ý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Big Data.</a:t>
            </a:r>
            <a:endParaRPr lang="en-US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Xây dựng thành công 2 mô hình (Dự </a:t>
            </a:r>
            <a:r>
              <a:rPr lang="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oán m</a:t>
            </a:r>
            <a:r>
              <a:rPr lang="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a chính xác cao &amp; Phân cụm thời tiết chuẩn xác).</a:t>
            </a:r>
            <a:endParaRPr lang="en-US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ớng phát triển t</a:t>
            </a:r>
            <a:r>
              <a:rPr lang="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ơng lai:</a:t>
            </a:r>
            <a:endParaRPr lang="en-US" alt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Tích hợp dữ liệu thời gian thực từ API (vd: OpenWeatherMap).</a:t>
            </a:r>
            <a:endParaRPr lang="en-US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Triển khai mô hình lên Web App (Streamlit) </a:t>
            </a:r>
            <a:r>
              <a:rPr lang="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ể ng</a:t>
            </a:r>
            <a:r>
              <a:rPr lang="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ời dùng phổ thông có thể sử dụng.</a:t>
            </a:r>
            <a:endParaRPr lang="en-US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545" y="2371090"/>
            <a:ext cx="9782175" cy="1058545"/>
          </a:xfrm>
        </p:spPr>
        <p:txBody>
          <a:bodyPr>
            <a:noAutofit/>
          </a:bodyPr>
          <a:p>
            <a:pPr algn="ctr"/>
            <a:r>
              <a:rPr lang="vi-VN" sz="6600" b="1" i="1" kern="10" dirty="0">
                <a:ln w="15875"/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Thank </a:t>
            </a:r>
            <a:r>
              <a:rPr lang="en-US" altLang="vi-VN" sz="6600" b="1" i="1" kern="10" dirty="0">
                <a:ln w="15875"/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 Watching</a:t>
            </a:r>
            <a:r>
              <a:rPr lang="vi-VN" sz="6600" b="1" i="1" kern="10" dirty="0">
                <a:ln w="28575">
                  <a:solidFill>
                    <a:schemeClr val="bg1"/>
                  </a:solidFill>
                  <a:round/>
                </a:ln>
                <a:solidFill>
                  <a:schemeClr val="tx1"/>
                </a:solidFill>
                <a:effectLst>
                  <a:outerShdw dist="53882" dir="2700000" algn="ctr" rotWithShape="0">
                    <a:schemeClr val="tx2">
                      <a:alpha val="5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!</a:t>
            </a:r>
            <a:endParaRPr lang="vi-VN" sz="6600" b="1" i="1" kern="10" dirty="0">
              <a:ln w="28575">
                <a:solidFill>
                  <a:schemeClr val="bg1"/>
                </a:solidFill>
                <a:round/>
              </a:ln>
              <a:solidFill>
                <a:schemeClr val="tx1"/>
              </a:solidFill>
              <a:effectLst>
                <a:outerShdw dist="53882" dir="2700000" algn="ctr" rotWithShape="0">
                  <a:schemeClr val="tx2">
                    <a:alpha val="5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2620</Words>
  <Application>WPS Presentation</Application>
  <PresentationFormat>Widescreen</PresentationFormat>
  <Paragraphs>70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4" baseType="lpstr">
      <vt:lpstr>Arial</vt:lpstr>
      <vt:lpstr>SimSun</vt:lpstr>
      <vt:lpstr>Wingdings</vt:lpstr>
      <vt:lpstr>Wingdings 3</vt:lpstr>
      <vt:lpstr>Arial</vt:lpstr>
      <vt:lpstr>Times New Roman</vt:lpstr>
      <vt:lpstr>Microsoft YaHei</vt:lpstr>
      <vt:lpstr>Arial Unicode MS</vt:lpstr>
      <vt:lpstr>Trebuchet MS</vt:lpstr>
      <vt:lpstr>Calibri</vt:lpstr>
      <vt:lpstr>华文新魏</vt:lpstr>
      <vt:lpstr>Segoe Print</vt:lpstr>
      <vt:lpstr>Facet</vt:lpstr>
      <vt:lpstr> HỆ QUẢN TRỊ CƠ SỞ DỮ LIỆU PHÂN TÁN</vt:lpstr>
      <vt:lpstr>ĐẶT VẤN ĐỀ &amp; MỤC TIÊU</vt:lpstr>
      <vt:lpstr>KIẾN TRÚC HẠ TẦNG VÀ CÔNG NGHỆ</vt:lpstr>
      <vt:lpstr>SƠ ĐỒ THỰC THỂ LIÊN KẾT (ERD TOÀN CỤC)</vt:lpstr>
      <vt:lpstr>CHIẾN LƯỢC PHÂN MẢNH</vt:lpstr>
      <vt:lpstr>ĐỊNH VỊ DỮ LIỆU VÀ ÁNH XẠ</vt:lpstr>
      <vt:lpstr>CƠ CHẾ LIÊN KẾT VÀ TRUY VẤN (FEDERATED ENGINE)</vt:lpstr>
      <vt:lpstr>CƠ CHẾ ĐỒNG BỘ DỮ LIỆU (REPLICATION)</vt:lpstr>
      <vt:lpstr>CHIẾN LƯỢC AN TOÀN DỮ LIỆU</vt:lpstr>
      <vt:lpstr>KẾT LUẬN VÀ HƯỚNG PHÁT TRIỂN</vt:lpstr>
      <vt:lpstr>Thank For Watching!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BÀI TẬP LỚN : PHÂN TÍCH VÀ THIẾT KẾ HỆ THỐNG</dc:title>
  <dc:creator>Administrator</dc:creator>
  <cp:lastModifiedBy>Hiếu Nguyễn</cp:lastModifiedBy>
  <cp:revision>96</cp:revision>
  <dcterms:created xsi:type="dcterms:W3CDTF">2025-04-21T02:54:00Z</dcterms:created>
  <dcterms:modified xsi:type="dcterms:W3CDTF">2026-06-22T01:32:36Z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B3B376C9F94B4390992A8225A608A026_12</vt:lpwstr>
  </property>
  <property fmtid="{D5CDD505-2E9C-101B-9397-08002B2CF9AE}" pid="3" name="KSOProductBuildVer">
    <vt:lpwstr>1033-12.1.0.26880</vt:lpwstr>
  </property>
</Properties>
</file>